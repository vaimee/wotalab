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97A1587-543D-090E-DC43-66591DB5E2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DE821714-C57F-5267-A0B0-028BE8A5CD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DE01E26-75CD-B9C7-61AF-F313E92D4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7A56C-952B-44C7-960A-5A4BCF80E1ED}" type="datetimeFigureOut">
              <a:rPr lang="it-IT" smtClean="0"/>
              <a:t>16/12/2025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816A581-5B4B-95D4-2409-50D7BBD55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877A8D4-F456-0E4A-E584-7F2C0CB9D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9A1FA-A492-4F6E-9713-26D4EBE877E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68766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CC2841E-3E2C-B32B-6739-EEE749DB6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B4F990E-EEF4-586F-F5FD-69FFB25FA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F08FB2D-5B20-1DD2-9800-222F88575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7A56C-952B-44C7-960A-5A4BCF80E1ED}" type="datetimeFigureOut">
              <a:rPr lang="it-IT" smtClean="0"/>
              <a:t>16/12/2025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9396A11-2E3E-A5A9-6536-17AEB103F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B0E3A45-FA07-CFB6-49B7-7E27ED27D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9A1FA-A492-4F6E-9713-26D4EBE877E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42056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2DF8282-1296-8082-86F2-11607AEC7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8A4727A-8D6A-2977-C398-95A357C2A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A1847C7-B4CE-E464-E03F-06CFBF5D1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7A56C-952B-44C7-960A-5A4BCF80E1ED}" type="datetimeFigureOut">
              <a:rPr lang="it-IT" smtClean="0"/>
              <a:t>16/12/2025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9189D73-3B7A-72BA-6D12-99D89A6F1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4B068B0-BAAD-45BF-E335-C4E33029A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9A1FA-A492-4F6E-9713-26D4EBE877E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97385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8F990E6-C88B-0FB0-2710-E944896F7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BCE6511-B0FD-304A-F6D9-A950A1BCF2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CC3C287-9886-A4C4-790B-5DCB569B37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09E35FC-DB0A-58AA-D20D-A6C1552A7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7A56C-952B-44C7-960A-5A4BCF80E1ED}" type="datetimeFigureOut">
              <a:rPr lang="it-IT" smtClean="0"/>
              <a:t>16/12/2025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5E34049-ED3D-1610-35DF-4D798A585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D3DCF77-DE47-BA94-47FB-345BAC09D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9A1FA-A492-4F6E-9713-26D4EBE877E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96014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25DE96C-F5B7-DD6D-AD5E-1F771FCFA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125BE7A-2854-A1AB-9AC1-46FD5431D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AE79A09-B3EE-BEF8-E635-FBCCC590E1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97C3D7E-22E6-491B-EFD7-97FF626112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609528E1-616E-B828-F0BC-633DE3A227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6A7298CF-6B34-DC6D-0B9B-7F99277F9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7A56C-952B-44C7-960A-5A4BCF80E1ED}" type="datetimeFigureOut">
              <a:rPr lang="it-IT" smtClean="0"/>
              <a:t>16/12/2025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7A5DFE2A-37A3-29A6-91A4-53423EBB4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3DA22685-7588-B278-A7B5-FF0500F64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9A1FA-A492-4F6E-9713-26D4EBE877E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16800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4A2D31B-59BF-FCC5-B193-FC66C91BB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71098CD-2394-834A-0D35-649C7E260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7A56C-952B-44C7-960A-5A4BCF80E1ED}" type="datetimeFigureOut">
              <a:rPr lang="it-IT" smtClean="0"/>
              <a:t>16/12/2025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E0508D7F-D83C-8EF5-E747-6CD8EF0E2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74842F9-AC3B-9CAB-7F4E-2D6D54FE2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9A1FA-A492-4F6E-9713-26D4EBE877E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87129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A5EDB626-C9CA-DA62-F7A2-50C0E6A75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7A56C-952B-44C7-960A-5A4BCF80E1ED}" type="datetimeFigureOut">
              <a:rPr lang="it-IT" smtClean="0"/>
              <a:t>16/12/2025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9BA8959B-0270-674E-F82D-201A80A2F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D960704-C2B2-D09B-AF75-FFEB62677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9A1FA-A492-4F6E-9713-26D4EBE877E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54111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4FD261-BC3B-1F1C-7617-E20B58F36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947E4F6-DE65-3A8B-F0A6-119C797CC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CABE55D-D6AA-7D6F-C4F3-74DED5AC7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0AE6016-64A0-1D9A-07E0-7B2144303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7A56C-952B-44C7-960A-5A4BCF80E1ED}" type="datetimeFigureOut">
              <a:rPr lang="it-IT" smtClean="0"/>
              <a:t>16/12/2025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1C8F7D4-DDCA-556B-41A6-755CBCDF2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CE93610-AC51-F3AD-A1F7-C53438E50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9A1FA-A492-4F6E-9713-26D4EBE877E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6711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297AB4-C179-92C3-6AA8-6552C5F83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68B7398F-B3B0-78EC-9E3E-A83CB5A8B4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3514478-C2EC-2778-6B99-F5DF49DE19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936A063-6E43-DB29-546B-4886C5151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7A56C-952B-44C7-960A-5A4BCF80E1ED}" type="datetimeFigureOut">
              <a:rPr lang="it-IT" smtClean="0"/>
              <a:t>16/12/2025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E31DDCF-B885-CEDD-6D19-0A241FEE5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2B69E63-4DA2-4552-0875-AE3CFE183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9A1FA-A492-4F6E-9713-26D4EBE877E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83765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F53C10-EC7A-20C1-BA1E-8B4013D07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BE3D43A-E5B0-2CA5-679E-4C79753166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D90F-DC03-17A2-FA86-C018F428A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7A56C-952B-44C7-960A-5A4BCF80E1ED}" type="datetimeFigureOut">
              <a:rPr lang="it-IT" smtClean="0"/>
              <a:t>16/12/2025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BD9BE70-372C-1789-FEB9-9110B6987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559D1C2-1BC1-E359-BB76-4F18A1B81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9A1FA-A492-4F6E-9713-26D4EBE877E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05623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CFE14E94-8292-3578-E09F-92E5644BB5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4466CCC-4F37-DD6A-8A6C-42DC0CA92D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660F8EE-ACDD-EC6D-9E85-7740F4BC7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7A56C-952B-44C7-960A-5A4BCF80E1ED}" type="datetimeFigureOut">
              <a:rPr lang="it-IT" smtClean="0"/>
              <a:t>16/12/2025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2FFFDD9-2641-3F2D-18A7-3D4B33B8D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AF987EF-E2E4-2B73-4CD1-0855FB23F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9A1FA-A492-4F6E-9713-26D4EBE877E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42626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0BD8E743-5FAC-5C8F-8557-9F0FD7A8F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E3C1D40-6D8E-C5CA-04D9-F0B0634FD7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282C4C4-8484-7DDC-1D24-EE126C331B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97A56C-952B-44C7-960A-5A4BCF80E1ED}" type="datetimeFigureOut">
              <a:rPr lang="it-IT" smtClean="0"/>
              <a:t>16/12/2025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0782F91-9E93-DFA2-9036-184E58CE2B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947D70B-9DED-1C91-8D22-87388C3476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39A1FA-A492-4F6E-9713-26D4EBE877E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54756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408E415-924F-E4B9-02C6-580A06B468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49422"/>
            <a:ext cx="9144000" cy="3208405"/>
          </a:xfrm>
        </p:spPr>
        <p:txBody>
          <a:bodyPr>
            <a:normAutofit fontScale="90000"/>
          </a:bodyPr>
          <a:lstStyle/>
          <a:p>
            <a:r>
              <a:rPr lang="it-IT" dirty="0" err="1"/>
              <a:t>WoT</a:t>
            </a:r>
            <a:r>
              <a:rPr lang="it-IT" dirty="0"/>
              <a:t> Robot Arm</a:t>
            </a:r>
            <a:br>
              <a:rPr lang="it-IT" dirty="0"/>
            </a:br>
            <a:r>
              <a:rPr lang="it-IT" dirty="0"/>
              <a:t>Controller</a:t>
            </a:r>
            <a:br>
              <a:rPr lang="it-IT" dirty="0"/>
            </a:br>
            <a:r>
              <a:rPr lang="it-IT" dirty="0"/>
              <a:t>-</a:t>
            </a:r>
            <a:br>
              <a:rPr lang="it-IT" dirty="0"/>
            </a:br>
            <a:r>
              <a:rPr lang="it-IT" dirty="0"/>
              <a:t>Architecture </a:t>
            </a:r>
            <a:r>
              <a:rPr lang="it-IT" dirty="0" err="1"/>
              <a:t>overview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27738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0A4CF21-97A7-DBC0-05BE-84D09BA33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Sections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FEA3509-E30C-0644-5FD5-093EA7694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1. </a:t>
            </a:r>
            <a:r>
              <a:rPr lang="it-IT" dirty="0" err="1"/>
              <a:t>Overview</a:t>
            </a:r>
            <a:endParaRPr lang="it-IT" dirty="0"/>
          </a:p>
          <a:p>
            <a:pPr marL="0" indent="0">
              <a:buNone/>
            </a:pPr>
            <a:r>
              <a:rPr lang="it-IT" dirty="0"/>
              <a:t>2. Handling </a:t>
            </a:r>
            <a:r>
              <a:rPr lang="it-IT" dirty="0" err="1"/>
              <a:t>asynchronous</a:t>
            </a:r>
            <a:r>
              <a:rPr lang="it-IT" dirty="0"/>
              <a:t> </a:t>
            </a:r>
            <a:r>
              <a:rPr lang="it-IT" dirty="0" err="1"/>
              <a:t>signals</a:t>
            </a:r>
            <a:endParaRPr lang="it-IT" dirty="0"/>
          </a:p>
          <a:p>
            <a:pPr marL="0" indent="0">
              <a:buNone/>
            </a:pPr>
            <a:r>
              <a:rPr lang="it-IT" dirty="0"/>
              <a:t>3. Orchestrator Processing pipeline</a:t>
            </a:r>
          </a:p>
          <a:p>
            <a:pPr marL="0" indent="0">
              <a:buNone/>
            </a:pPr>
            <a:r>
              <a:rPr lang="it-IT" dirty="0"/>
              <a:t>4. </a:t>
            </a:r>
            <a:r>
              <a:rPr lang="it-IT" dirty="0" err="1"/>
              <a:t>Ugrade</a:t>
            </a:r>
            <a:r>
              <a:rPr lang="it-IT" dirty="0"/>
              <a:t> with non-linear model</a:t>
            </a:r>
          </a:p>
          <a:p>
            <a:pPr marL="0" indent="0">
              <a:buNone/>
            </a:pPr>
            <a:r>
              <a:rPr lang="it-IT" dirty="0"/>
              <a:t>5. </a:t>
            </a:r>
            <a:r>
              <a:rPr lang="it-IT" dirty="0" err="1"/>
              <a:t>Examples</a:t>
            </a:r>
            <a:r>
              <a:rPr lang="it-IT" dirty="0"/>
              <a:t> with </a:t>
            </a:r>
            <a:r>
              <a:rPr lang="it-IT" dirty="0" err="1"/>
              <a:t>different</a:t>
            </a:r>
            <a:r>
              <a:rPr lang="it-IT" dirty="0"/>
              <a:t> damping and </a:t>
            </a:r>
            <a:r>
              <a:rPr lang="it-IT" dirty="0" err="1"/>
              <a:t>inertia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10871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3C4E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048AA61-BCD3-9F26-AEFF-12C1850CE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1. Overview</a:t>
            </a:r>
          </a:p>
        </p:txBody>
      </p:sp>
      <p:pic>
        <p:nvPicPr>
          <p:cNvPr id="5" name="Segnaposto contenuto 4" descr="Immagine che contiene testo, diagramma,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74E04660-46A4-C038-8559-90031C3B2D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2514" y="155786"/>
            <a:ext cx="7937442" cy="6488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182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07C6E5-C16E-CBDF-02E3-82069BA11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2. </a:t>
            </a:r>
            <a:r>
              <a:rPr lang="it-IT" dirty="0" err="1"/>
              <a:t>Asynchronous</a:t>
            </a:r>
            <a:r>
              <a:rPr lang="it-IT" dirty="0"/>
              <a:t> </a:t>
            </a:r>
            <a:r>
              <a:rPr lang="it-IT" dirty="0" err="1"/>
              <a:t>signals</a:t>
            </a:r>
            <a:r>
              <a:rPr lang="it-IT" dirty="0"/>
              <a:t> and caches</a:t>
            </a:r>
          </a:p>
        </p:txBody>
      </p:sp>
      <p:pic>
        <p:nvPicPr>
          <p:cNvPr id="5" name="Immagine 4" descr="Immagine che contiene schermata, Modellazione 3D&#10;&#10;Il contenuto generato dall'IA potrebbe non essere corretto.">
            <a:extLst>
              <a:ext uri="{FF2B5EF4-FFF2-40B4-BE49-F238E27FC236}">
                <a16:creationId xmlns:a16="http://schemas.microsoft.com/office/drawing/2014/main" id="{CB44DBFF-3C59-14AC-5B3D-DA222CD40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99567"/>
            <a:ext cx="10515600" cy="5074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986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52157A4-9248-DF5A-4D55-6116A5F94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3. Processing</a:t>
            </a:r>
          </a:p>
        </p:txBody>
      </p:sp>
      <p:pic>
        <p:nvPicPr>
          <p:cNvPr id="5" name="Segnaposto contenuto 4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6C019D49-302F-216D-6607-893F8DF344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578" y="3829080"/>
            <a:ext cx="9552843" cy="1785195"/>
          </a:xfr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AAA7516F-4AA0-E670-DFC3-CD3019610DF7}"/>
              </a:ext>
            </a:extLst>
          </p:cNvPr>
          <p:cNvSpPr txBox="1"/>
          <p:nvPr/>
        </p:nvSpPr>
        <p:spPr>
          <a:xfrm>
            <a:off x="838200" y="1507808"/>
            <a:ext cx="1003422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it-IT" dirty="0"/>
              <a:t>Inputs can be </a:t>
            </a:r>
            <a:r>
              <a:rPr lang="it-IT" dirty="0" err="1"/>
              <a:t>normalized</a:t>
            </a:r>
            <a:r>
              <a:rPr lang="it-IT" dirty="0"/>
              <a:t> to </a:t>
            </a:r>
            <a:r>
              <a:rPr lang="it-IT" dirty="0" err="1"/>
              <a:t>maintain</a:t>
            </a:r>
            <a:r>
              <a:rPr lang="it-IT" dirty="0"/>
              <a:t> </a:t>
            </a:r>
            <a:r>
              <a:rPr lang="it-IT" dirty="0" err="1"/>
              <a:t>flexibility</a:t>
            </a:r>
            <a:r>
              <a:rPr lang="it-IT" dirty="0"/>
              <a:t>, es. [128,255,…,0] -&gt; [0.5,1,…,0]</a:t>
            </a:r>
          </a:p>
          <a:p>
            <a:pPr marL="285750" indent="-285750">
              <a:buFontTx/>
              <a:buChar char="-"/>
            </a:pPr>
            <a:r>
              <a:rPr lang="it-IT" dirty="0"/>
              <a:t>Conversion to </a:t>
            </a:r>
            <a:r>
              <a:rPr lang="it-IT" dirty="0" err="1"/>
              <a:t>desired</a:t>
            </a:r>
            <a:r>
              <a:rPr lang="it-IT" dirty="0"/>
              <a:t> </a:t>
            </a:r>
            <a:r>
              <a:rPr lang="it-IT" dirty="0" err="1"/>
              <a:t>rotation</a:t>
            </a:r>
            <a:r>
              <a:rPr lang="it-IT" dirty="0"/>
              <a:t> must be </a:t>
            </a:r>
            <a:r>
              <a:rPr lang="it-IT" dirty="0" err="1"/>
              <a:t>done</a:t>
            </a:r>
            <a:r>
              <a:rPr lang="it-IT" dirty="0"/>
              <a:t> </a:t>
            </a:r>
            <a:r>
              <a:rPr lang="it-IT" dirty="0" err="1"/>
              <a:t>taking</a:t>
            </a:r>
            <a:r>
              <a:rPr lang="it-IT" dirty="0"/>
              <a:t> </a:t>
            </a:r>
            <a:r>
              <a:rPr lang="it-IT" dirty="0" err="1"/>
              <a:t>into</a:t>
            </a:r>
            <a:r>
              <a:rPr lang="it-IT" dirty="0"/>
              <a:t> account the range of </a:t>
            </a:r>
            <a:r>
              <a:rPr lang="it-IT" dirty="0" err="1"/>
              <a:t>both</a:t>
            </a:r>
            <a:r>
              <a:rPr lang="it-IT" dirty="0"/>
              <a:t> «</a:t>
            </a:r>
            <a:r>
              <a:rPr lang="it-IT" dirty="0" err="1"/>
              <a:t>sensors</a:t>
            </a:r>
            <a:r>
              <a:rPr lang="it-IT" dirty="0"/>
              <a:t>» (we </a:t>
            </a:r>
            <a:r>
              <a:rPr lang="it-IT" dirty="0" err="1"/>
              <a:t>want</a:t>
            </a:r>
            <a:r>
              <a:rPr lang="it-IT" dirty="0"/>
              <a:t> </a:t>
            </a:r>
            <a:r>
              <a:rPr lang="it-IT" dirty="0" err="1"/>
              <a:t>analog</a:t>
            </a:r>
            <a:r>
              <a:rPr lang="it-IT" dirty="0"/>
              <a:t> input with more </a:t>
            </a:r>
            <a:r>
              <a:rPr lang="it-IT" dirty="0" err="1"/>
              <a:t>definition</a:t>
            </a:r>
            <a:r>
              <a:rPr lang="it-IT" dirty="0"/>
              <a:t>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analog</a:t>
            </a:r>
            <a:r>
              <a:rPr lang="it-IT" dirty="0"/>
              <a:t> output)</a:t>
            </a:r>
          </a:p>
          <a:p>
            <a:pPr marL="285750" indent="-285750">
              <a:buFontTx/>
              <a:buChar char="-"/>
            </a:pPr>
            <a:r>
              <a:rPr lang="it-IT" dirty="0"/>
              <a:t>Filtering can make </a:t>
            </a:r>
            <a:r>
              <a:rPr lang="it-IT" dirty="0" err="1"/>
              <a:t>movement</a:t>
            </a:r>
            <a:r>
              <a:rPr lang="it-IT" dirty="0"/>
              <a:t> </a:t>
            </a:r>
            <a:r>
              <a:rPr lang="it-IT" dirty="0" err="1"/>
              <a:t>smoother</a:t>
            </a:r>
            <a:r>
              <a:rPr lang="it-IT" dirty="0"/>
              <a:t> to reduce stress on the </a:t>
            </a:r>
            <a:r>
              <a:rPr lang="it-IT" dirty="0" err="1"/>
              <a:t>rotors</a:t>
            </a:r>
            <a:r>
              <a:rPr lang="it-IT" dirty="0"/>
              <a:t>, can be </a:t>
            </a:r>
            <a:r>
              <a:rPr lang="it-IT" dirty="0" err="1"/>
              <a:t>turned</a:t>
            </a:r>
            <a:r>
              <a:rPr lang="it-IT" dirty="0"/>
              <a:t> off</a:t>
            </a:r>
          </a:p>
          <a:p>
            <a:pPr marL="285750" indent="-285750">
              <a:buFontTx/>
              <a:buChar char="-"/>
            </a:pPr>
            <a:r>
              <a:rPr lang="it-IT" dirty="0"/>
              <a:t>Input can </a:t>
            </a:r>
            <a:r>
              <a:rPr lang="it-IT" dirty="0" err="1"/>
              <a:t>refer</a:t>
            </a:r>
            <a:r>
              <a:rPr lang="it-IT" dirty="0"/>
              <a:t> to the </a:t>
            </a:r>
            <a:r>
              <a:rPr lang="it-IT" dirty="0" err="1"/>
              <a:t>desired</a:t>
            </a:r>
            <a:r>
              <a:rPr lang="it-IT" dirty="0"/>
              <a:t> </a:t>
            </a:r>
            <a:r>
              <a:rPr lang="it-IT" dirty="0" err="1"/>
              <a:t>rotation</a:t>
            </a:r>
            <a:r>
              <a:rPr lang="it-IT" dirty="0"/>
              <a:t> or </a:t>
            </a:r>
            <a:r>
              <a:rPr lang="it-IT" dirty="0" err="1"/>
              <a:t>desired</a:t>
            </a:r>
            <a:r>
              <a:rPr lang="it-IT" dirty="0"/>
              <a:t> </a:t>
            </a:r>
            <a:r>
              <a:rPr lang="it-IT" dirty="0" err="1"/>
              <a:t>velocity</a:t>
            </a:r>
            <a:r>
              <a:rPr lang="it-IT" dirty="0"/>
              <a:t>, </a:t>
            </a:r>
            <a:r>
              <a:rPr lang="it-IT" dirty="0" err="1"/>
              <a:t>using</a:t>
            </a:r>
            <a:r>
              <a:rPr lang="it-IT" dirty="0"/>
              <a:t> a </a:t>
            </a:r>
            <a:r>
              <a:rPr lang="it-IT" dirty="0" err="1"/>
              <a:t>velocity</a:t>
            </a:r>
            <a:r>
              <a:rPr lang="it-IT" dirty="0"/>
              <a:t> system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ideal</a:t>
            </a:r>
            <a:r>
              <a:rPr lang="it-IT" dirty="0"/>
              <a:t> </a:t>
            </a:r>
            <a:r>
              <a:rPr lang="it-IT" dirty="0" err="1"/>
              <a:t>but</a:t>
            </a:r>
            <a:r>
              <a:rPr lang="it-IT" dirty="0"/>
              <a:t> more </a:t>
            </a:r>
            <a:r>
              <a:rPr lang="it-IT" dirty="0" err="1"/>
              <a:t>complex</a:t>
            </a:r>
            <a:r>
              <a:rPr lang="it-IT" dirty="0"/>
              <a:t> to </a:t>
            </a:r>
            <a:r>
              <a:rPr lang="it-IT" dirty="0" err="1"/>
              <a:t>implement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26719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9E5D5A-71EF-64CC-C33D-CDB0F48BC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4. Filtering</a:t>
            </a:r>
          </a:p>
        </p:txBody>
      </p:sp>
      <p:pic>
        <p:nvPicPr>
          <p:cNvPr id="5" name="Segnaposto contenuto 4" descr="Immagine che contiene schermata, testo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D6DCFAEA-071B-B5FD-6319-D42C5D2A0B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22805" y="2828696"/>
            <a:ext cx="8717605" cy="3664179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ECB9838E-75A2-79BD-AA0E-2D2DF73724AC}"/>
              </a:ext>
            </a:extLst>
          </p:cNvPr>
          <p:cNvSpPr txBox="1"/>
          <p:nvPr/>
        </p:nvSpPr>
        <p:spPr>
          <a:xfrm>
            <a:off x="838200" y="1403192"/>
            <a:ext cx="1051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it-IT" dirty="0"/>
              <a:t>First </a:t>
            </a:r>
            <a:r>
              <a:rPr lang="it-IT" dirty="0" err="1"/>
              <a:t>order</a:t>
            </a:r>
            <a:r>
              <a:rPr lang="it-IT" dirty="0"/>
              <a:t> filters </a:t>
            </a:r>
            <a:r>
              <a:rPr lang="it-IT" dirty="0" err="1"/>
              <a:t>cannot</a:t>
            </a:r>
            <a:r>
              <a:rPr lang="it-IT" dirty="0"/>
              <a:t> replicate a «</a:t>
            </a:r>
            <a:r>
              <a:rPr lang="it-IT" dirty="0" err="1"/>
              <a:t>biological</a:t>
            </a:r>
            <a:r>
              <a:rPr lang="it-IT" dirty="0"/>
              <a:t>» </a:t>
            </a:r>
            <a:r>
              <a:rPr lang="it-IT" dirty="0" err="1"/>
              <a:t>behaviour</a:t>
            </a:r>
            <a:endParaRPr lang="it-IT" dirty="0"/>
          </a:p>
          <a:p>
            <a:pPr marL="285750" indent="-285750">
              <a:buFontTx/>
              <a:buChar char="-"/>
            </a:pPr>
            <a:r>
              <a:rPr lang="it-IT" dirty="0" err="1"/>
              <a:t>Introducing</a:t>
            </a:r>
            <a:r>
              <a:rPr lang="it-IT" dirty="0"/>
              <a:t> non </a:t>
            </a:r>
            <a:r>
              <a:rPr lang="it-IT" dirty="0" err="1"/>
              <a:t>linearities</a:t>
            </a:r>
            <a:r>
              <a:rPr lang="it-IT" dirty="0"/>
              <a:t> </a:t>
            </a:r>
            <a:r>
              <a:rPr lang="it-IT" dirty="0" err="1"/>
              <a:t>allows</a:t>
            </a:r>
            <a:r>
              <a:rPr lang="it-IT" dirty="0"/>
              <a:t> for more sophisticated </a:t>
            </a:r>
            <a:r>
              <a:rPr lang="it-IT" dirty="0" err="1"/>
              <a:t>movement</a:t>
            </a:r>
            <a:endParaRPr lang="it-IT" dirty="0"/>
          </a:p>
          <a:p>
            <a:pPr marL="285750" indent="-285750">
              <a:buFontTx/>
              <a:buChar char="-"/>
            </a:pPr>
            <a:r>
              <a:rPr lang="it-IT" dirty="0"/>
              <a:t>A </a:t>
            </a:r>
            <a:r>
              <a:rPr lang="it-IT" dirty="0" err="1"/>
              <a:t>basic</a:t>
            </a:r>
            <a:r>
              <a:rPr lang="it-IT" dirty="0"/>
              <a:t> </a:t>
            </a:r>
            <a:r>
              <a:rPr lang="it-IT" dirty="0" err="1"/>
              <a:t>example</a:t>
            </a:r>
            <a:r>
              <a:rPr lang="it-IT" dirty="0"/>
              <a:t> can be </a:t>
            </a:r>
            <a:r>
              <a:rPr lang="it-IT" dirty="0" err="1"/>
              <a:t>simulated</a:t>
            </a:r>
            <a:r>
              <a:rPr lang="it-IT" dirty="0"/>
              <a:t> </a:t>
            </a:r>
            <a:r>
              <a:rPr lang="it-IT" dirty="0" err="1"/>
              <a:t>using</a:t>
            </a:r>
            <a:r>
              <a:rPr lang="it-IT" dirty="0"/>
              <a:t> a spring with damping dynamics: w, </a:t>
            </a:r>
            <a:r>
              <a:rPr lang="it-IT" dirty="0" err="1"/>
              <a:t>wn</a:t>
            </a:r>
            <a:r>
              <a:rPr lang="it-IT" dirty="0"/>
              <a:t>, delta</a:t>
            </a:r>
          </a:p>
          <a:p>
            <a:pPr marL="285750" indent="-285750">
              <a:buFontTx/>
              <a:buChar char="-"/>
            </a:pPr>
            <a:r>
              <a:rPr lang="it-IT" dirty="0"/>
              <a:t>Delta=0.3 </a:t>
            </a:r>
            <a:r>
              <a:rPr lang="it-IT" dirty="0" err="1"/>
              <a:t>oscillations</a:t>
            </a:r>
            <a:r>
              <a:rPr lang="it-IT" dirty="0"/>
              <a:t>, delta=0.7 </a:t>
            </a:r>
            <a:r>
              <a:rPr lang="it-IT" dirty="0" err="1"/>
              <a:t>smooth</a:t>
            </a:r>
            <a:r>
              <a:rPr lang="it-IT" dirty="0"/>
              <a:t>, 1.0 </a:t>
            </a:r>
            <a:r>
              <a:rPr lang="it-IT" dirty="0" err="1"/>
              <a:t>critical</a:t>
            </a:r>
            <a:r>
              <a:rPr lang="it-IT" dirty="0"/>
              <a:t>, &gt;1.0 </a:t>
            </a:r>
            <a:r>
              <a:rPr lang="it-IT" dirty="0" err="1"/>
              <a:t>too</a:t>
            </a:r>
            <a:r>
              <a:rPr lang="it-IT" dirty="0"/>
              <a:t> slow </a:t>
            </a:r>
          </a:p>
        </p:txBody>
      </p:sp>
      <p:pic>
        <p:nvPicPr>
          <p:cNvPr id="9" name="Immagine 8" descr="Immagine che contiene Carattere, bianco, tipografia, calligrafia&#10;&#10;Il contenuto generato dall'IA potrebbe non essere corretto.">
            <a:extLst>
              <a:ext uri="{FF2B5EF4-FFF2-40B4-BE49-F238E27FC236}">
                <a16:creationId xmlns:a16="http://schemas.microsoft.com/office/drawing/2014/main" id="{A31482CD-B45C-3446-72DD-2150FE269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326" y="4494134"/>
            <a:ext cx="2848373" cy="685896"/>
          </a:xfrm>
          <a:prstGeom prst="rect">
            <a:avLst/>
          </a:prstGeom>
        </p:spPr>
      </p:pic>
      <p:pic>
        <p:nvPicPr>
          <p:cNvPr id="11" name="Immagine 10" descr="Immagine che contiene Carattere, bianco, calligrafia, simbolo&#10;&#10;Il contenuto generato dall'IA potrebbe non essere corretto.">
            <a:extLst>
              <a:ext uri="{FF2B5EF4-FFF2-40B4-BE49-F238E27FC236}">
                <a16:creationId xmlns:a16="http://schemas.microsoft.com/office/drawing/2014/main" id="{2763F835-7C91-B1B5-463E-5BB7B3AA4D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037" y="3402048"/>
            <a:ext cx="2152950" cy="733527"/>
          </a:xfrm>
          <a:prstGeom prst="rect">
            <a:avLst/>
          </a:prstGeom>
        </p:spPr>
      </p:pic>
      <p:pic>
        <p:nvPicPr>
          <p:cNvPr id="13" name="Immagine 12" descr="Immagine che contiene Carattere, calligrafia, bianco, linea&#10;&#10;Il contenuto generato dall'IA potrebbe non essere corretto.">
            <a:extLst>
              <a:ext uri="{FF2B5EF4-FFF2-40B4-BE49-F238E27FC236}">
                <a16:creationId xmlns:a16="http://schemas.microsoft.com/office/drawing/2014/main" id="{EC77A4B7-E712-CAEE-DD2F-4BD5DC5A68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590" y="5048408"/>
            <a:ext cx="3019846" cy="943107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83EFD1FD-A4DA-B18C-F1EA-918980AE3CFD}"/>
              </a:ext>
            </a:extLst>
          </p:cNvPr>
          <p:cNvSpPr txBox="1"/>
          <p:nvPr/>
        </p:nvSpPr>
        <p:spPr>
          <a:xfrm>
            <a:off x="957389" y="3211969"/>
            <a:ext cx="115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1°st </a:t>
            </a:r>
            <a:r>
              <a:rPr lang="it-IT" dirty="0" err="1"/>
              <a:t>order</a:t>
            </a:r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146829F9-2DE3-B57C-8444-8F33B3A98658}"/>
              </a:ext>
            </a:extLst>
          </p:cNvPr>
          <p:cNvSpPr txBox="1"/>
          <p:nvPr/>
        </p:nvSpPr>
        <p:spPr>
          <a:xfrm>
            <a:off x="922252" y="4217273"/>
            <a:ext cx="1225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2°nd </a:t>
            </a:r>
            <a:r>
              <a:rPr lang="it-IT" dirty="0" err="1"/>
              <a:t>order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51400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2537B5D-8AB7-8DC5-5188-E8737D27E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5. </a:t>
            </a:r>
            <a:r>
              <a:rPr lang="it-IT" dirty="0" err="1"/>
              <a:t>Effects</a:t>
            </a:r>
            <a:r>
              <a:rPr lang="it-IT" dirty="0"/>
              <a:t> of </a:t>
            </a:r>
            <a:r>
              <a:rPr lang="it-IT" dirty="0" err="1"/>
              <a:t>varying</a:t>
            </a:r>
            <a:r>
              <a:rPr lang="it-IT" dirty="0"/>
              <a:t> damping and </a:t>
            </a:r>
            <a:r>
              <a:rPr lang="it-IT" dirty="0" err="1"/>
              <a:t>inertia</a:t>
            </a:r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6FEE6155-A149-3160-7252-634A11DCF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502" y="1825625"/>
            <a:ext cx="9798996" cy="4718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06323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210</Words>
  <Application>Microsoft Office PowerPoint</Application>
  <PresentationFormat>Widescreen</PresentationFormat>
  <Paragraphs>22</Paragraphs>
  <Slides>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Tema di Office</vt:lpstr>
      <vt:lpstr>WoT Robot Arm Controller - Architecture overview</vt:lpstr>
      <vt:lpstr>Sections</vt:lpstr>
      <vt:lpstr>1. Overview</vt:lpstr>
      <vt:lpstr>2. Asynchronous signals and caches</vt:lpstr>
      <vt:lpstr>3. Processing</vt:lpstr>
      <vt:lpstr>4. Filtering</vt:lpstr>
      <vt:lpstr>5. Effects of varying damping and inertia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Gregorio Monari - gregorio.monari@studio.unibo.it</dc:creator>
  <cp:lastModifiedBy>Gregorio Monari - gregorio.monari@studio.unibo.it</cp:lastModifiedBy>
  <cp:revision>6</cp:revision>
  <dcterms:created xsi:type="dcterms:W3CDTF">2025-12-16T13:10:53Z</dcterms:created>
  <dcterms:modified xsi:type="dcterms:W3CDTF">2025-12-16T13:54:42Z</dcterms:modified>
</cp:coreProperties>
</file>